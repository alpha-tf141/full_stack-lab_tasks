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1" r:id="rId15"/>
    <p:sldId id="272" r:id="rId16"/>
    <p:sldId id="273" r:id="rId17"/>
    <p:sldId id="270" r:id="rId18"/>
    <p:sldId id="265" r:id="rId19"/>
  </p:sldIdLst>
  <p:sldSz cx="18288000" cy="10287000"/>
  <p:notesSz cx="6858000" cy="9144000"/>
  <p:embeddedFontLst>
    <p:embeddedFont>
      <p:font typeface="Bookman Old Style" panose="02050604050505020204" pitchFamily="18" charset="0"/>
      <p:regular r:id="rId20"/>
      <p:bold r:id="rId21"/>
      <p:italic r:id="rId22"/>
      <p:boldItalic r:id="rId23"/>
    </p:embeddedFont>
    <p:embeddedFont>
      <p:font typeface="Cambria" panose="02040503050406030204" pitchFamily="18" charset="0"/>
      <p:regular r:id="rId24"/>
      <p:bold r:id="rId25"/>
      <p:italic r:id="rId26"/>
      <p:boldItalic r:id="rId27"/>
    </p:embeddedFont>
    <p:embeddedFont>
      <p:font typeface="Gotham" panose="020B0604020202020204" charset="0"/>
      <p:regular r:id="rId28"/>
    </p:embeddedFont>
    <p:embeddedFont>
      <p:font typeface="Gotham Bold Italics"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svg"/><Relationship Id="rId7"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27-03-2026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Relational  Inventory  Control  &amp;  Stock  Tracking  System</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MARIA IMMANUEL L– VTU24334 – 23UECS0345</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X. Arogya </a:t>
            </a:r>
            <a:r>
              <a:rPr lang="en-US" sz="3000" dirty="0" err="1">
                <a:latin typeface="Cambria" panose="02040503050406030204" pitchFamily="18" charset="0"/>
                <a:ea typeface="Cambria" panose="02040503050406030204" pitchFamily="18" charset="0"/>
              </a:rPr>
              <a:t>Preskila</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12 - Responsible Consumption and Production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09800" y="1975464"/>
            <a:ext cx="15082325" cy="10433625"/>
          </a:xfrm>
          <a:prstGeom prst="rect">
            <a:avLst/>
          </a:prstGeom>
          <a:noFill/>
        </p:spPr>
        <p:txBody>
          <a:bodyPr wrap="square" rtlCol="0">
            <a:spAutoFit/>
          </a:bodyPr>
          <a:lstStyle/>
          <a:p>
            <a:pPr marL="457200" indent="-457200">
              <a:buFontTx/>
              <a:buChar char="-"/>
            </a:pPr>
            <a:r>
              <a:rPr lang="en-US" sz="2800" dirty="0"/>
              <a:t>Inventory mismanagement is a common problem in many businesses, leading to stock shortages, overstocking, and financial losses. </a:t>
            </a:r>
          </a:p>
          <a:p>
            <a:pPr marL="457200" indent="-457200">
              <a:buFontTx/>
              <a:buChar char="-"/>
            </a:pPr>
            <a:r>
              <a:rPr lang="en-US" sz="2800" dirty="0"/>
              <a:t>Manual record-keeping systems often result in data inaccuracies and delayed updates. </a:t>
            </a:r>
          </a:p>
          <a:p>
            <a:pPr marL="457200" indent="-457200">
              <a:buFontTx/>
              <a:buChar char="-"/>
            </a:pPr>
            <a:r>
              <a:rPr lang="en-US" sz="2800" dirty="0"/>
              <a:t>This project focuses on developing a Relational Inventory Control and Stock Tracking System to address these challenges. </a:t>
            </a:r>
          </a:p>
          <a:p>
            <a:pPr marL="457200" indent="-457200">
              <a:buFontTx/>
              <a:buChar char="-"/>
            </a:pPr>
            <a:r>
              <a:rPr lang="en-US" sz="2800" dirty="0"/>
              <a:t>The system uses a structured relational database to store and manage product, supplier, and transaction data efficiently. </a:t>
            </a:r>
          </a:p>
          <a:p>
            <a:pPr marL="457200" indent="-457200">
              <a:buFontTx/>
              <a:buChar char="-"/>
            </a:pPr>
            <a:r>
              <a:rPr lang="en-US" sz="2800" dirty="0"/>
              <a:t>It enables real-time monitoring of stock levels and automated updates after purchases or sales. </a:t>
            </a:r>
          </a:p>
          <a:p>
            <a:pPr marL="457200" indent="-457200">
              <a:buFontTx/>
              <a:buChar char="-"/>
            </a:pPr>
            <a:r>
              <a:rPr lang="en-US" sz="2800" dirty="0"/>
              <a:t>By reducing human errors, the system improves accuracy and operational efficiency. </a:t>
            </a:r>
          </a:p>
          <a:p>
            <a:pPr marL="457200" indent="-457200">
              <a:buFontTx/>
              <a:buChar char="-"/>
            </a:pPr>
            <a:r>
              <a:rPr lang="en-US" sz="2800" dirty="0"/>
              <a:t>It also generates reports to support better decision-making. </a:t>
            </a:r>
          </a:p>
          <a:p>
            <a:pPr marL="457200" indent="-457200">
              <a:buFontTx/>
              <a:buChar char="-"/>
            </a:pPr>
            <a:r>
              <a:rPr lang="en-US" sz="2800" dirty="0"/>
              <a:t>Overall, the system provides a reliable and scalable solution for effective inventory management.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6526" y="1982349"/>
            <a:ext cx="15082325" cy="10433625"/>
          </a:xfrm>
          <a:prstGeom prst="rect">
            <a:avLst/>
          </a:prstGeom>
          <a:noFill/>
        </p:spPr>
        <p:txBody>
          <a:bodyPr wrap="square" rtlCol="0">
            <a:spAutoFit/>
          </a:bodyPr>
          <a:lstStyle/>
          <a:p>
            <a:pPr algn="just"/>
            <a:r>
              <a:rPr lang="en-US" sz="2800" dirty="0"/>
              <a:t>	Many businesses still rely on manual or semi-automated methods to manage inventory and track stock levels. These traditional approaches often lead to inaccurate records, stock mismatches, delayed updates, and financial losses. Lack of real-time visibility makes it difficult to monitor product movement and make timely decisions. Overstocking and stock shortages negatively affect customer satisfaction and operational efficiency. </a:t>
            </a:r>
          </a:p>
          <a:p>
            <a:pPr algn="just"/>
            <a:r>
              <a:rPr lang="en-US" sz="2800" dirty="0"/>
              <a:t>	Additionally, disconnected data storage systems create inconsistencies and redundancy. There is a clear need for a centralized and automated solution to manage inventory effectively. The system must ensure data accuracy, real-time updates, and proper tracking of stock transactions. Therefore, a reliable relational inventory control and stock tracking system is required to improve efficiency and reduce errors.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206526" y="1993654"/>
            <a:ext cx="15082325" cy="3970318"/>
          </a:xfrm>
          <a:prstGeom prst="rect">
            <a:avLst/>
          </a:prstGeom>
          <a:noFill/>
        </p:spPr>
        <p:txBody>
          <a:bodyPr wrap="square" rtlCol="0">
            <a:spAutoFit/>
          </a:bodyPr>
          <a:lstStyle/>
          <a:p>
            <a:r>
              <a:rPr lang="en-US" sz="2800" dirty="0"/>
              <a:t>-    To </a:t>
            </a:r>
            <a:r>
              <a:rPr lang="en-US" sz="2800" b="1" dirty="0"/>
              <a:t>design and develop </a:t>
            </a:r>
            <a:r>
              <a:rPr lang="en-US" sz="2800" dirty="0"/>
              <a:t>a dynamic web-based Relational Inventory Control &amp; Stock Tracking System using HTML5, CSS3, ES6, and MySQL.</a:t>
            </a:r>
          </a:p>
          <a:p>
            <a:pPr marL="457200" indent="-457200">
              <a:buFontTx/>
              <a:buChar char="-"/>
            </a:pPr>
            <a:r>
              <a:rPr lang="en-US" sz="2800" dirty="0"/>
              <a:t>To </a:t>
            </a:r>
            <a:r>
              <a:rPr lang="en-US" sz="2800" b="1" dirty="0"/>
              <a:t>implement</a:t>
            </a:r>
            <a:r>
              <a:rPr lang="en-US" sz="2800" dirty="0"/>
              <a:t> database queries and server-side connectivity (PHP/Node.js with XAMPP/Tomcat) to manage, update, and display real-time inventory data efficiently.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6526" y="1982349"/>
            <a:ext cx="15082325" cy="4832092"/>
          </a:xfrm>
          <a:prstGeom prst="rect">
            <a:avLst/>
          </a:prstGeom>
          <a:noFill/>
        </p:spPr>
        <p:txBody>
          <a:bodyPr wrap="square" rtlCol="0">
            <a:spAutoFit/>
          </a:bodyPr>
          <a:lstStyle/>
          <a:p>
            <a:pPr marL="457200" indent="-457200">
              <a:buFontTx/>
              <a:buChar char="-"/>
            </a:pPr>
            <a:r>
              <a:rPr lang="en-US" sz="2800" dirty="0"/>
              <a:t>The proposed system is a web-based Relational Inventory Control and Stock Tracking System developed using HTML5, CSS3, ES6, and MySQL.</a:t>
            </a:r>
          </a:p>
          <a:p>
            <a:pPr marL="457200" indent="-457200">
              <a:buFontTx/>
              <a:buChar char="-"/>
            </a:pPr>
            <a:r>
              <a:rPr lang="en-US" sz="2800" dirty="0"/>
              <a:t>It provides a centralized platform to manage products, suppliers, stock entries, and sales transactions.</a:t>
            </a:r>
          </a:p>
          <a:p>
            <a:pPr marL="457200" indent="-457200">
              <a:buFontTx/>
              <a:buChar char="-"/>
            </a:pPr>
            <a:r>
              <a:rPr lang="en-US" sz="2800" dirty="0"/>
              <a:t>The system maintains data in a structured relational database to ensure accuracy and consistency.</a:t>
            </a:r>
          </a:p>
          <a:p>
            <a:pPr marL="457200" indent="-457200">
              <a:buFontTx/>
              <a:buChar char="-"/>
            </a:pPr>
            <a:r>
              <a:rPr lang="en-US" sz="2800" dirty="0"/>
              <a:t>It enables real-time stock updates whenever a purchase or sale is recorded.</a:t>
            </a:r>
          </a:p>
          <a:p>
            <a:pPr marL="457200" indent="-457200">
              <a:buFontTx/>
              <a:buChar char="-"/>
            </a:pPr>
            <a:r>
              <a:rPr lang="en-US" sz="2800" dirty="0"/>
              <a:t>Automated calculations reduce manual errors in quantity tracking and reporting.</a:t>
            </a:r>
          </a:p>
          <a:p>
            <a:pPr marL="457200" indent="-457200">
              <a:buFontTx/>
              <a:buChar char="-"/>
            </a:pPr>
            <a:r>
              <a:rPr lang="en-US" sz="2800" dirty="0"/>
              <a:t>The application allows users to view current stock levels and generate reports instantly.</a:t>
            </a:r>
          </a:p>
          <a:p>
            <a:pPr marL="457200" indent="-457200">
              <a:buFontTx/>
              <a:buChar char="-"/>
            </a:pPr>
            <a:r>
              <a:rPr lang="en-US" sz="2800" dirty="0"/>
              <a:t>It eliminates data redundancy and improves data integrity compared to manual record-keeping.</a:t>
            </a:r>
          </a:p>
          <a:p>
            <a:pPr marL="457200" indent="-457200">
              <a:buFontTx/>
              <a:buChar char="-"/>
            </a:pPr>
            <a:r>
              <a:rPr lang="en-US" sz="2800" dirty="0"/>
              <a:t>Overall, the system enhances efficiency, reduces stock mismanagement, and supports better decision-making.</a:t>
            </a: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FC4F9F1-1BC6-C61F-646D-87473503925C}"/>
              </a:ext>
            </a:extLst>
          </p:cNvPr>
          <p:cNvPicPr>
            <a:picLocks noChangeAspect="1"/>
          </p:cNvPicPr>
          <p:nvPr/>
        </p:nvPicPr>
        <p:blipFill>
          <a:blip r:embed="rId4"/>
          <a:stretch>
            <a:fillRect/>
          </a:stretch>
        </p:blipFill>
        <p:spPr>
          <a:xfrm>
            <a:off x="1981200" y="2521581"/>
            <a:ext cx="15773400" cy="51910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1D6084F-9440-FBAF-DE38-86072F1BCEF5}"/>
              </a:ext>
            </a:extLst>
          </p:cNvPr>
          <p:cNvPicPr>
            <a:picLocks noChangeAspect="1"/>
          </p:cNvPicPr>
          <p:nvPr/>
        </p:nvPicPr>
        <p:blipFill>
          <a:blip r:embed="rId4"/>
          <a:stretch>
            <a:fillRect/>
          </a:stretch>
        </p:blipFill>
        <p:spPr>
          <a:xfrm>
            <a:off x="3962400" y="1638300"/>
            <a:ext cx="10684493" cy="773686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27934" y="1982349"/>
            <a:ext cx="15082325" cy="11726287"/>
          </a:xfrm>
          <a:prstGeom prst="rect">
            <a:avLst/>
          </a:prstGeom>
          <a:noFill/>
        </p:spPr>
        <p:txBody>
          <a:bodyPr wrap="square" rtlCol="0">
            <a:spAutoFit/>
          </a:bodyPr>
          <a:lstStyle/>
          <a:p>
            <a:r>
              <a:rPr lang="en-IN" sz="2800" b="1" u="sng" dirty="0"/>
              <a:t>Technologies Used </a:t>
            </a:r>
            <a:r>
              <a:rPr lang="en-IN" sz="2800" b="1" dirty="0"/>
              <a:t>:-</a:t>
            </a:r>
          </a:p>
          <a:p>
            <a:endParaRPr lang="en-IN" sz="2800" b="1" dirty="0"/>
          </a:p>
          <a:p>
            <a:pPr marL="457200" indent="-457200">
              <a:buFont typeface="Arial" panose="020B0604020202020204" pitchFamily="34" charset="0"/>
              <a:buChar char="•"/>
            </a:pPr>
            <a:r>
              <a:rPr lang="en-IN" sz="2800" b="1" dirty="0"/>
              <a:t>Frontend:</a:t>
            </a:r>
          </a:p>
          <a:p>
            <a:r>
              <a:rPr lang="en-IN" sz="2800" dirty="0"/>
              <a:t>	-&gt; HTML5 | CSS3 | JavaScript (ES6)</a:t>
            </a:r>
          </a:p>
          <a:p>
            <a:pPr marL="457200" indent="-457200">
              <a:buFont typeface="Arial" panose="020B0604020202020204" pitchFamily="34" charset="0"/>
              <a:buChar char="•"/>
            </a:pPr>
            <a:r>
              <a:rPr lang="en-IN" sz="2800" b="1" dirty="0"/>
              <a:t>Backend:</a:t>
            </a:r>
          </a:p>
          <a:p>
            <a:r>
              <a:rPr lang="en-IN" sz="2800" dirty="0"/>
              <a:t>	 -&gt; PHP / Node.js</a:t>
            </a:r>
          </a:p>
          <a:p>
            <a:pPr marL="457200" indent="-457200">
              <a:buFont typeface="Arial" panose="020B0604020202020204" pitchFamily="34" charset="0"/>
              <a:buChar char="•"/>
            </a:pPr>
            <a:r>
              <a:rPr lang="en-IN" sz="2800" b="1" dirty="0"/>
              <a:t>Database:</a:t>
            </a:r>
          </a:p>
          <a:p>
            <a:r>
              <a:rPr lang="en-IN" sz="2800" dirty="0"/>
              <a:t>	 -&gt; MySQL</a:t>
            </a:r>
          </a:p>
          <a:p>
            <a:pPr marL="457200" indent="-457200">
              <a:buFont typeface="Arial" panose="020B0604020202020204" pitchFamily="34" charset="0"/>
              <a:buChar char="•"/>
            </a:pPr>
            <a:r>
              <a:rPr lang="en-IN" sz="2800" b="1" dirty="0"/>
              <a:t>Tools:</a:t>
            </a:r>
          </a:p>
          <a:p>
            <a:r>
              <a:rPr lang="en-IN" sz="2800" dirty="0"/>
              <a:t>	 -&gt; XAMPP / Tomcat | VS Code | phpMyAdmin | Chrome</a:t>
            </a:r>
          </a:p>
          <a:p>
            <a:pPr marL="457200" indent="-457200">
              <a:buFont typeface="Arial" panose="020B0604020202020204" pitchFamily="34" charset="0"/>
              <a:buChar char="•"/>
            </a:pPr>
            <a:r>
              <a:rPr lang="en-IN" sz="2800" b="1" dirty="0"/>
              <a:t>Hardware &amp; Software Minimum Requirements:</a:t>
            </a:r>
          </a:p>
          <a:p>
            <a:r>
              <a:rPr lang="en-IN" sz="2800" b="1" dirty="0"/>
              <a:t>	</a:t>
            </a:r>
          </a:p>
          <a:p>
            <a:r>
              <a:rPr lang="en-IN" sz="2800" b="1" dirty="0"/>
              <a:t>	-&gt; Hardware:</a:t>
            </a:r>
            <a:r>
              <a:rPr lang="en-IN" sz="2800" dirty="0"/>
              <a:t> 4GB RAM, i3 Processor or above, 20GB Storage</a:t>
            </a:r>
            <a:br>
              <a:rPr lang="en-IN" sz="2800" dirty="0"/>
            </a:br>
            <a:r>
              <a:rPr lang="en-IN" sz="2800" dirty="0"/>
              <a:t>	</a:t>
            </a:r>
          </a:p>
          <a:p>
            <a:r>
              <a:rPr lang="en-IN" sz="2800" b="1" dirty="0"/>
              <a:t>	-&gt; Software:</a:t>
            </a:r>
            <a:r>
              <a:rPr lang="en-IN" sz="2800" dirty="0"/>
              <a:t> Windows 10/11 or Linux, MySQL Server, XAMPP/Node.js, Web Browser</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315257" y="2015465"/>
            <a:ext cx="15082325" cy="10002738"/>
          </a:xfrm>
          <a:prstGeom prst="rect">
            <a:avLst/>
          </a:prstGeom>
          <a:noFill/>
        </p:spPr>
        <p:txBody>
          <a:bodyPr wrap="square" rtlCol="0">
            <a:spAutoFit/>
          </a:bodyPr>
          <a:lstStyle/>
          <a:p>
            <a:pPr marL="457200" indent="-457200">
              <a:buFont typeface="Arial" panose="020B0604020202020204" pitchFamily="34" charset="0"/>
              <a:buChar char="•"/>
            </a:pPr>
            <a:r>
              <a:rPr lang="en-US" sz="2800" b="1" dirty="0"/>
              <a:t>Module 1: Product &amp; Inventory Management Module</a:t>
            </a:r>
          </a:p>
          <a:p>
            <a:r>
              <a:rPr lang="en-US" sz="2800" dirty="0"/>
              <a:t>	This module manages CRUD (Create, Read, Update, Delete) operations for product records. It maintains stock quantity, product ID, category, pricing details, and availability status. Input validation and form handling are implemented using frontend technologies, while backend scripts process and update the database.</a:t>
            </a:r>
          </a:p>
          <a:p>
            <a:pPr marL="457200" indent="-457200">
              <a:buFont typeface="Arial" panose="020B0604020202020204" pitchFamily="34" charset="0"/>
              <a:buChar char="•"/>
            </a:pPr>
            <a:r>
              <a:rPr lang="en-US" sz="2800" b="1" dirty="0"/>
              <a:t>Module 2: Supplier &amp; Transaction Processing Module</a:t>
            </a:r>
          </a:p>
          <a:p>
            <a:r>
              <a:rPr lang="en-US" sz="2800" dirty="0"/>
              <a:t>	This module handles supplier data management and transaction processing (purchase and sales entries). It executes business logic to automatically increase or decrease stock levels based on transaction type. SQL queries are used to ensure accurate real-time updates and consistency.</a:t>
            </a:r>
          </a:p>
          <a:p>
            <a:pPr marL="457200" indent="-457200">
              <a:buFont typeface="Arial" panose="020B0604020202020204" pitchFamily="34" charset="0"/>
              <a:buChar char="•"/>
            </a:pPr>
            <a:r>
              <a:rPr lang="en-US" sz="2800" b="1" dirty="0"/>
              <a:t>Module 3: Database Management Module</a:t>
            </a:r>
          </a:p>
          <a:p>
            <a:r>
              <a:rPr lang="en-US" sz="2800" dirty="0"/>
              <a:t>	This module manages relational database design, including table creation, primary and foreign key relationships, and normalization. It ensures data integrity, prevents redundancy, and handles secure data retrieval using structured queries.</a:t>
            </a:r>
          </a:p>
          <a:p>
            <a:pPr marL="457200" indent="-457200">
              <a:buFont typeface="Arial" panose="020B0604020202020204" pitchFamily="34" charset="0"/>
              <a:buChar char="•"/>
            </a:pPr>
            <a:r>
              <a:rPr lang="en-US" sz="2800" b="1" dirty="0"/>
              <a:t>Module 4: Reporting &amp; Analytics Module</a:t>
            </a:r>
          </a:p>
          <a:p>
            <a:r>
              <a:rPr lang="en-US" sz="2800" dirty="0"/>
              <a:t>	This module generates dynamic reports such as stock summaries, low-stock alerts, and transaction history. It retrieves processed data from the database and displays it through structured dashboards for analysis and decision-making.</a:t>
            </a:r>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4BE5015-0976-8358-FC63-9D1C126A9F59}"/>
              </a:ext>
            </a:extLst>
          </p:cNvPr>
          <p:cNvPicPr>
            <a:picLocks noChangeAspect="1"/>
          </p:cNvPicPr>
          <p:nvPr/>
        </p:nvPicPr>
        <p:blipFill>
          <a:blip r:embed="rId4"/>
          <a:stretch>
            <a:fillRect/>
          </a:stretch>
        </p:blipFill>
        <p:spPr>
          <a:xfrm>
            <a:off x="1981201" y="1867140"/>
            <a:ext cx="14808690" cy="6773691"/>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21409A5-8757-1B8B-BD90-CF8C6CB3D5DC}"/>
              </a:ext>
            </a:extLst>
          </p:cNvPr>
          <p:cNvPicPr>
            <a:picLocks noChangeAspect="1"/>
          </p:cNvPicPr>
          <p:nvPr/>
        </p:nvPicPr>
        <p:blipFill>
          <a:blip r:embed="rId4"/>
          <a:stretch>
            <a:fillRect/>
          </a:stretch>
        </p:blipFill>
        <p:spPr>
          <a:xfrm>
            <a:off x="2133599" y="1976216"/>
            <a:ext cx="14630401" cy="6609984"/>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86B6421-BCD7-004E-D421-957E36B4EC62}"/>
              </a:ext>
            </a:extLst>
          </p:cNvPr>
          <p:cNvPicPr>
            <a:picLocks noChangeAspect="1"/>
          </p:cNvPicPr>
          <p:nvPr/>
        </p:nvPicPr>
        <p:blipFill>
          <a:blip r:embed="rId4"/>
          <a:stretch>
            <a:fillRect/>
          </a:stretch>
        </p:blipFill>
        <p:spPr>
          <a:xfrm>
            <a:off x="2604586" y="2015465"/>
            <a:ext cx="13501442" cy="7328390"/>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156E77E9-FDA5-0E16-98E6-40D1EDD9B1DA}"/>
              </a:ext>
            </a:extLst>
          </p:cNvPr>
          <p:cNvPicPr>
            <a:picLocks noChangeAspect="1"/>
          </p:cNvPicPr>
          <p:nvPr/>
        </p:nvPicPr>
        <p:blipFill>
          <a:blip r:embed="rId4"/>
          <a:stretch>
            <a:fillRect/>
          </a:stretch>
        </p:blipFill>
        <p:spPr>
          <a:xfrm>
            <a:off x="2427996" y="1981514"/>
            <a:ext cx="14118214" cy="7659883"/>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E3E2F-C60D-1D94-4E7B-DB4EDC62DDA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58D4863F-3385-8C8F-C44F-F9C0C788E92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15FFDFC0-DDD6-ADF6-62AF-3E957421B6C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1A1B47AF-C770-60B6-CADE-18B8BE662B0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F30CC2C4-3537-8580-F3EF-001F8B97E1A5}"/>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72E3CB3D-DF2A-BC9C-B8FB-25FE22785AD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D458D7F7-268B-C272-5E5F-201B21E74E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D8F26331-2008-33A1-85E1-D6A0D44F9DAA}"/>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ED648D4-EBDC-99F3-9376-3E952DE483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B881834B-E917-082B-B724-AD92CC862C4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329B8B9C-DCF2-043A-99F7-18B2A6BF03DB}"/>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E02C488-FEB9-B87A-1545-99506F03C0C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A2090D83-4DAC-7CBA-5486-79D430D4FB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10246EA6-D728-A392-4C53-8BD82802964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B01DAFDD-392E-6FEF-D5BF-05E7D27E731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2F91F3F5-42F5-CBBB-8382-4DE873380A5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DEADED1F-A5F8-73CA-7AD5-61E8FF0ACF59}"/>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57FCDCFA-C5B9-0B7F-EDD5-BDD53F6CB81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90104A99-4D35-A2D7-EC26-0D179F4BE0A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DBCE4E4-4796-63E6-911E-FBCEC5CBEC97}"/>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15CDD423-E524-9F53-EDC9-81C033F2E79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7603BF16-4467-EF9B-ED76-4471DC731B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04315D79-CAED-3C84-EC89-D44553521E4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78F11C72-F2D3-BFE0-4558-EC3691F9A32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4DC90A8B-18DA-985A-6CB5-70B4FF5D450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DD8987E-061C-42C8-8806-EB9CC2C29C7F}"/>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489B3CD-7270-00D2-DA46-73493F595A5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3CB7CF42-A018-0AEF-7C30-FA795BF3BFB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7ABBAD3C-6650-55E7-D944-BDD3A1F5D990}"/>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D3A6A7C4-6E98-E5A7-832D-B868396E7ED6}"/>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D88188A-D162-AF0C-1805-4FCD9F7234B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7BC23FDA-6F5C-A73D-FE0E-72695B876B1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52FCEE7C-D00A-C977-7807-F7A5418EC7F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FF3940A4-0DB5-7A65-F563-14677D3CB95D}"/>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909234F7-4D88-872D-1E04-134E1EE939A4}"/>
              </a:ext>
            </a:extLst>
          </p:cNvPr>
          <p:cNvPicPr>
            <a:picLocks noChangeAspect="1"/>
          </p:cNvPicPr>
          <p:nvPr/>
        </p:nvPicPr>
        <p:blipFill>
          <a:blip r:embed="rId4"/>
          <a:stretch>
            <a:fillRect/>
          </a:stretch>
        </p:blipFill>
        <p:spPr>
          <a:xfrm>
            <a:off x="2209800" y="2014258"/>
            <a:ext cx="14479122" cy="6534090"/>
          </a:xfrm>
          <a:prstGeom prst="rect">
            <a:avLst/>
          </a:prstGeom>
        </p:spPr>
      </p:pic>
    </p:spTree>
    <p:extLst>
      <p:ext uri="{BB962C8B-B14F-4D97-AF65-F5344CB8AC3E}">
        <p14:creationId xmlns:p14="http://schemas.microsoft.com/office/powerpoint/2010/main" val="4214708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99BE0-8DF3-79B5-5261-039D5BF80D6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CE2F70E-571F-1077-814A-0FB6170EA1CB}"/>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20C20DC0-E1FE-CE12-2771-82AF9AFA912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9A1738BF-93B2-CAD5-9DA7-4FC79B561E9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0E6F8BF0-D59A-0BEA-800E-380D3EE9FCA8}"/>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538B097A-D23C-7D88-8858-977E0DEBB8B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EBDC1A75-0462-EAA5-ED5F-1B14C6202A2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21795B3E-7F0D-BDB0-A7F6-83DF8F0256E3}"/>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92FF7FDD-AC19-A407-4732-4FA28623631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E8A913CD-B0B1-D1D0-E882-5D44761E41D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51614E60-E1E4-C735-37BE-69CE07B42C16}"/>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DFDA5360-CE39-316C-0EDF-15F1EDC68B7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D62791DC-B437-F8F1-723D-F7F778A90FF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3BA58F-3898-BDBF-DC30-100DAA7224B7}"/>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90EC18-C646-24D7-5CEA-C71F003F957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AB0B1445-4621-3F21-318B-378B061258D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DA23E668-A045-0740-A609-C7E165EF2B98}"/>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B31149DF-36BF-D7FE-D517-41557DAFADF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9F94B4D8-A4CE-5808-77FC-FA8FD02CA74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B1346A99-5556-295C-6DE1-65030FED97A1}"/>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3548EEA-848E-3D36-2BD0-F6C316A3202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460AD042-4F6A-37DE-C40E-07B844D409F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9237BAC4-3167-CDB9-A25F-E2E464AAC74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49C4EE13-5DD5-CF8A-D858-6C1DFD40902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84DA67C0-AED4-A5B8-84C4-176A44E8DCF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3F15F665-49CD-C6CD-2DF8-6AEC14A22E86}"/>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9F66F93E-5A23-0AD6-4234-0E7DCF11891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5A04466-815C-E7B5-967B-FF0653E54F3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7849CB02-6DE3-BF7A-1F0F-5B4AC0365E6A}"/>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82B10C56-E66D-E2D3-FF56-CFC486DA0A0D}"/>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B6878CF-88EA-2F06-0B5F-63D0B26D006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23BAF1F0-7578-1355-9F06-5D2537D47AC0}"/>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A393F439-BF9C-6CD2-E99D-B193AC8157B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11AE062D-95A3-4609-0266-1029BDC5ADDF}"/>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AE1C6EC8-09E3-0063-81EE-9D0D75C002C4}"/>
              </a:ext>
            </a:extLst>
          </p:cNvPr>
          <p:cNvPicPr>
            <a:picLocks noChangeAspect="1"/>
          </p:cNvPicPr>
          <p:nvPr/>
        </p:nvPicPr>
        <p:blipFill>
          <a:blip r:embed="rId4"/>
          <a:stretch>
            <a:fillRect/>
          </a:stretch>
        </p:blipFill>
        <p:spPr>
          <a:xfrm>
            <a:off x="2056411" y="1982349"/>
            <a:ext cx="14175178" cy="7192379"/>
          </a:xfrm>
          <a:prstGeom prst="rect">
            <a:avLst/>
          </a:prstGeom>
        </p:spPr>
      </p:pic>
    </p:spTree>
    <p:extLst>
      <p:ext uri="{BB962C8B-B14F-4D97-AF65-F5344CB8AC3E}">
        <p14:creationId xmlns:p14="http://schemas.microsoft.com/office/powerpoint/2010/main" val="34236842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F628C-5450-34E4-6ED0-4D076850A623}"/>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AD70C82-2717-EA26-32E6-959AB00D3B06}"/>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EE981B7C-48FD-2221-4285-0740694F6AB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3CD459BE-9716-6D44-9472-D59510F54AD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C23D87A6-EDD5-E830-ECEE-CA314405096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13474D3-DA11-7992-681A-2637975AD80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21A09F3-89E1-0A4B-4883-BFB35B4085E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9A70EF06-C8B7-12AB-1F32-C4AD2E221343}"/>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94D009C8-0A1B-2B8B-EA4F-2015A48A02C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FC9805B-275C-BB18-D382-026AEE5782E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D772EBEC-ADA7-E561-2773-EADF33B49D01}"/>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D08BBDBD-A45F-67B3-B376-CC1D05A80A5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5E2CC4E-FCBC-0FD0-EFF4-F671F8B710B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47BAC84E-2D72-0B9B-2D9C-39DEB6B18A77}"/>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C1EE1EE-DDC2-5F95-12CA-FBA31D9EFE3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07D4CF3B-0A32-7F0E-DCA4-080D6D7A89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D77573B7-AB53-5FEF-8C7A-DAE48EA95AF9}"/>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DE65B75A-5C05-8E26-76A9-C5423D8FC36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2ED186FA-9B6E-D018-E5FE-91163917A67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32123DC-1CCE-A718-0F58-CA9DBBAE3DC0}"/>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CBA6321D-D8AA-655F-46B1-287A15988D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2490A31D-8049-CF47-5853-9C2483902DA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67351CBA-9EEC-2C92-D93C-C6BBA22CAE8F}"/>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FAF04B27-50E2-14F0-5089-77EA214E8B5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E93AE4E6-6831-54AC-7D71-9D2F601FE45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17E4C6C-B37B-D30A-FA9F-4FE6C3573316}"/>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938B0E36-6925-4F8D-CAA8-9E54D9DBB77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E822287-1B7F-3607-2561-A89B9F0E326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2F548224-8763-55C6-8B26-B581BDE60D68}"/>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993527BE-008C-0763-062C-3914CD660A5E}"/>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7C13C18B-A09F-C731-3B9E-5E228CCCA4F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7E1135A5-4067-6513-92F0-8952607F9720}"/>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C736527-2536-C28D-23B7-3E49EEFE721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A0F4514-5AC5-C803-5405-1528E02FD485}"/>
              </a:ext>
            </a:extLst>
          </p:cNvPr>
          <p:cNvPicPr>
            <a:picLocks noChangeAspect="1"/>
          </p:cNvPicPr>
          <p:nvPr/>
        </p:nvPicPr>
        <p:blipFill>
          <a:blip r:embed="rId4"/>
          <a:stretch>
            <a:fillRect/>
          </a:stretch>
        </p:blipFill>
        <p:spPr>
          <a:xfrm>
            <a:off x="2540360" y="2007305"/>
            <a:ext cx="2419688" cy="1924319"/>
          </a:xfrm>
          <a:prstGeom prst="rect">
            <a:avLst/>
          </a:prstGeom>
        </p:spPr>
      </p:pic>
      <p:pic>
        <p:nvPicPr>
          <p:cNvPr id="6" name="Picture 5">
            <a:extLst>
              <a:ext uri="{FF2B5EF4-FFF2-40B4-BE49-F238E27FC236}">
                <a16:creationId xmlns:a16="http://schemas.microsoft.com/office/drawing/2014/main" id="{F2BE3ECB-DC36-4F39-2955-BEC53E3D5F03}"/>
              </a:ext>
            </a:extLst>
          </p:cNvPr>
          <p:cNvPicPr>
            <a:picLocks noChangeAspect="1"/>
          </p:cNvPicPr>
          <p:nvPr/>
        </p:nvPicPr>
        <p:blipFill>
          <a:blip r:embed="rId5"/>
          <a:stretch>
            <a:fillRect/>
          </a:stretch>
        </p:blipFill>
        <p:spPr>
          <a:xfrm>
            <a:off x="5410200" y="2015465"/>
            <a:ext cx="4953691" cy="1219370"/>
          </a:xfrm>
          <a:prstGeom prst="rect">
            <a:avLst/>
          </a:prstGeom>
        </p:spPr>
      </p:pic>
      <p:pic>
        <p:nvPicPr>
          <p:cNvPr id="39" name="Picture 38">
            <a:extLst>
              <a:ext uri="{FF2B5EF4-FFF2-40B4-BE49-F238E27FC236}">
                <a16:creationId xmlns:a16="http://schemas.microsoft.com/office/drawing/2014/main" id="{E3AB57B1-B5AB-7CBE-796F-125D5EFFAA68}"/>
              </a:ext>
            </a:extLst>
          </p:cNvPr>
          <p:cNvPicPr>
            <a:picLocks noChangeAspect="1"/>
          </p:cNvPicPr>
          <p:nvPr/>
        </p:nvPicPr>
        <p:blipFill>
          <a:blip r:embed="rId6"/>
          <a:stretch>
            <a:fillRect/>
          </a:stretch>
        </p:blipFill>
        <p:spPr>
          <a:xfrm>
            <a:off x="2803626" y="4274317"/>
            <a:ext cx="6792273" cy="1400370"/>
          </a:xfrm>
          <a:prstGeom prst="rect">
            <a:avLst/>
          </a:prstGeom>
        </p:spPr>
      </p:pic>
      <p:pic>
        <p:nvPicPr>
          <p:cNvPr id="41" name="Picture 40">
            <a:extLst>
              <a:ext uri="{FF2B5EF4-FFF2-40B4-BE49-F238E27FC236}">
                <a16:creationId xmlns:a16="http://schemas.microsoft.com/office/drawing/2014/main" id="{31F48138-A92E-10D6-A216-F790A21F6957}"/>
              </a:ext>
            </a:extLst>
          </p:cNvPr>
          <p:cNvPicPr>
            <a:picLocks noChangeAspect="1"/>
          </p:cNvPicPr>
          <p:nvPr/>
        </p:nvPicPr>
        <p:blipFill>
          <a:blip r:embed="rId7"/>
          <a:stretch>
            <a:fillRect/>
          </a:stretch>
        </p:blipFill>
        <p:spPr>
          <a:xfrm>
            <a:off x="10598660" y="1982349"/>
            <a:ext cx="5458587" cy="1552792"/>
          </a:xfrm>
          <a:prstGeom prst="rect">
            <a:avLst/>
          </a:prstGeom>
        </p:spPr>
      </p:pic>
      <p:pic>
        <p:nvPicPr>
          <p:cNvPr id="45" name="Picture 44">
            <a:extLst>
              <a:ext uri="{FF2B5EF4-FFF2-40B4-BE49-F238E27FC236}">
                <a16:creationId xmlns:a16="http://schemas.microsoft.com/office/drawing/2014/main" id="{81883131-9530-2045-A2EE-0862780EDE58}"/>
              </a:ext>
            </a:extLst>
          </p:cNvPr>
          <p:cNvPicPr>
            <a:picLocks noChangeAspect="1"/>
          </p:cNvPicPr>
          <p:nvPr/>
        </p:nvPicPr>
        <p:blipFill>
          <a:blip r:embed="rId8"/>
          <a:stretch>
            <a:fillRect/>
          </a:stretch>
        </p:blipFill>
        <p:spPr>
          <a:xfrm>
            <a:off x="2665734" y="6248207"/>
            <a:ext cx="9916909" cy="1305107"/>
          </a:xfrm>
          <a:prstGeom prst="rect">
            <a:avLst/>
          </a:prstGeom>
        </p:spPr>
      </p:pic>
      <p:pic>
        <p:nvPicPr>
          <p:cNvPr id="47" name="Picture 46">
            <a:extLst>
              <a:ext uri="{FF2B5EF4-FFF2-40B4-BE49-F238E27FC236}">
                <a16:creationId xmlns:a16="http://schemas.microsoft.com/office/drawing/2014/main" id="{7EFE0D81-BA8F-0B0A-76FE-7027E49A0980}"/>
              </a:ext>
            </a:extLst>
          </p:cNvPr>
          <p:cNvPicPr>
            <a:picLocks noChangeAspect="1"/>
          </p:cNvPicPr>
          <p:nvPr/>
        </p:nvPicPr>
        <p:blipFill>
          <a:blip r:embed="rId9"/>
          <a:stretch>
            <a:fillRect/>
          </a:stretch>
        </p:blipFill>
        <p:spPr>
          <a:xfrm>
            <a:off x="10363891" y="4290527"/>
            <a:ext cx="5029902" cy="1076475"/>
          </a:xfrm>
          <a:prstGeom prst="rect">
            <a:avLst/>
          </a:prstGeom>
        </p:spPr>
      </p:pic>
    </p:spTree>
    <p:extLst>
      <p:ext uri="{BB962C8B-B14F-4D97-AF65-F5344CB8AC3E}">
        <p14:creationId xmlns:p14="http://schemas.microsoft.com/office/powerpoint/2010/main" val="28810025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0519D47-A1C4-5B61-7F79-FAD6F76075A3}"/>
              </a:ext>
            </a:extLst>
          </p:cNvPr>
          <p:cNvSpPr txBox="1"/>
          <p:nvPr/>
        </p:nvSpPr>
        <p:spPr>
          <a:xfrm>
            <a:off x="2492928" y="1982349"/>
            <a:ext cx="14499672" cy="6555641"/>
          </a:xfrm>
          <a:prstGeom prst="rect">
            <a:avLst/>
          </a:prstGeom>
          <a:noFill/>
        </p:spPr>
        <p:txBody>
          <a:bodyPr wrap="square">
            <a:spAutoFit/>
          </a:bodyPr>
          <a:lstStyle/>
          <a:p>
            <a:pPr marL="457200" indent="-457200">
              <a:buFont typeface="Arial" panose="020B0604020202020204" pitchFamily="34" charset="0"/>
              <a:buChar char="•"/>
            </a:pPr>
            <a:r>
              <a:rPr lang="en-US" sz="2800" b="1" u="sng" dirty="0"/>
              <a:t>ADVANTAGES</a:t>
            </a:r>
            <a:r>
              <a:rPr lang="en-US" sz="2800" b="1" dirty="0"/>
              <a:t> :</a:t>
            </a:r>
          </a:p>
          <a:p>
            <a:pPr lvl="1"/>
            <a:r>
              <a:rPr lang="en-US" sz="2800" dirty="0"/>
              <a:t>-&gt; Provides real-time stock monitoring and accurate inventory tracking.</a:t>
            </a:r>
          </a:p>
          <a:p>
            <a:pPr lvl="1"/>
            <a:r>
              <a:rPr lang="en-US" sz="2800" dirty="0"/>
              <a:t>-&gt; Reduces manual errors through automated stock updates.</a:t>
            </a:r>
          </a:p>
          <a:p>
            <a:pPr lvl="1"/>
            <a:r>
              <a:rPr lang="en-US" sz="2800" dirty="0"/>
              <a:t>-&gt; Improves data integrity using a relational database structure.</a:t>
            </a:r>
          </a:p>
          <a:p>
            <a:pPr lvl="1"/>
            <a:r>
              <a:rPr lang="en-US" sz="2800" dirty="0"/>
              <a:t>-&gt; Enables quick report generation for better decision-making.</a:t>
            </a:r>
          </a:p>
          <a:p>
            <a:pPr lvl="1"/>
            <a:r>
              <a:rPr lang="en-US" sz="2800" dirty="0"/>
              <a:t>-&gt; Centralized system improves efficiency and data accessibility.</a:t>
            </a:r>
          </a:p>
          <a:p>
            <a:pPr lvl="1"/>
            <a:r>
              <a:rPr lang="en-US" sz="2800" dirty="0"/>
              <a:t>-&gt; Scalable design suitable for small and medium businesses.</a:t>
            </a:r>
          </a:p>
          <a:p>
            <a:pPr>
              <a:buNone/>
            </a:pPr>
            <a:br>
              <a:rPr lang="en-US" sz="2800" dirty="0"/>
            </a:br>
            <a:endParaRPr lang="en-US" sz="2800" dirty="0"/>
          </a:p>
          <a:p>
            <a:pPr marL="457200" indent="-457200">
              <a:buFont typeface="Arial" panose="020B0604020202020204" pitchFamily="34" charset="0"/>
              <a:buChar char="•"/>
            </a:pPr>
            <a:r>
              <a:rPr lang="en-US" sz="2800" b="1" u="sng" dirty="0"/>
              <a:t>LIMITATIONS</a:t>
            </a:r>
            <a:r>
              <a:rPr lang="en-US" sz="2800" b="1" dirty="0"/>
              <a:t> :</a:t>
            </a:r>
          </a:p>
          <a:p>
            <a:pPr lvl="1"/>
            <a:r>
              <a:rPr lang="en-US" sz="2800" dirty="0"/>
              <a:t>-&gt; Requires basic technical knowledge for system maintenance.</a:t>
            </a:r>
          </a:p>
          <a:p>
            <a:pPr lvl="1"/>
            <a:r>
              <a:rPr lang="en-US" sz="2800" dirty="0"/>
              <a:t>-&gt; Dependent on internet/server availability for access.</a:t>
            </a:r>
          </a:p>
          <a:p>
            <a:pPr lvl="1"/>
            <a:r>
              <a:rPr lang="en-US" sz="2800" dirty="0"/>
              <a:t>-&gt; Initial setup and database configuration may take time.</a:t>
            </a:r>
          </a:p>
          <a:p>
            <a:pPr lvl="1"/>
            <a:r>
              <a:rPr lang="en-US" sz="2800" dirty="0"/>
              <a:t>-&gt; Limited to the features implemented (may not include advanced ERP functions).</a:t>
            </a:r>
          </a:p>
          <a:p>
            <a:pPr lvl="1"/>
            <a:r>
              <a:rPr lang="en-US" sz="2800" dirty="0"/>
              <a:t>-&gt; Data security depends on proper server configuration and user authentication mechanisms.</a:t>
            </a:r>
          </a:p>
        </p:txBody>
      </p:sp>
    </p:spTree>
    <p:extLst>
      <p:ext uri="{BB962C8B-B14F-4D97-AF65-F5344CB8AC3E}">
        <p14:creationId xmlns:p14="http://schemas.microsoft.com/office/powerpoint/2010/main" val="1838976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439</TotalTime>
  <Words>1115</Words>
  <Application>Microsoft Office PowerPoint</Application>
  <PresentationFormat>Custom</PresentationFormat>
  <Paragraphs>300</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Gotham</vt:lpstr>
      <vt:lpstr>Bookman Old Style</vt:lpstr>
      <vt:lpstr>Arial</vt:lpstr>
      <vt:lpstr>Calibri</vt:lpstr>
      <vt:lpstr>Times New Roman</vt:lpstr>
      <vt:lpstr>Cambria</vt:lpstr>
      <vt:lpstr>Gotham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Maria Immanuel</dc:creator>
  <cp:lastModifiedBy>Maria Immanuel</cp:lastModifiedBy>
  <cp:revision>16</cp:revision>
  <dcterms:created xsi:type="dcterms:W3CDTF">2006-08-16T00:00:00Z</dcterms:created>
  <dcterms:modified xsi:type="dcterms:W3CDTF">2026-03-27T03:35:27Z</dcterms:modified>
  <dc:identifier>DAHCaYqJ9OU</dc:identifier>
</cp:coreProperties>
</file>